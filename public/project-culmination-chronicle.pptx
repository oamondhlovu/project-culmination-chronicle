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 for the Project Culmination Chronicle close-out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summary: six cohorts, 171 learners, 95% attendance, and 94% completion.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 with the final recommendation and acknowledgement.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9E3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562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8292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CULMINATION CHRONICLE  ·  FINAL REPORT 2024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9326880" y="655624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292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 &amp; Learning Office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2929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2929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F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7955280" y="-822960"/>
            <a:ext cx="4663440" cy="4663440"/>
          </a:xfrm>
          <a:prstGeom prst="arc">
            <a:avLst/>
          </a:prstGeom>
          <a:noFill/>
          <a:ln w="15240">
            <a:solidFill>
              <a:srgbClr val="E6C153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8503920" y="3566160"/>
            <a:ext cx="3749040" cy="3749040"/>
          </a:xfrm>
          <a:prstGeom prst="arc">
            <a:avLst/>
          </a:prstGeom>
          <a:noFill/>
          <a:ln w="12700">
            <a:solidFill>
              <a:srgbClr val="E6C153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C153"/>
          </a:solidFill>
          <a:ln w="12700">
            <a:solidFill>
              <a:srgbClr val="E6C1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7772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1D5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PROGRAMME CLOSE-OUT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1261872"/>
            <a:ext cx="5577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</a:t>
            </a:r>
            <a:endParaRPr lang="en-US" sz="3800" dirty="0"/>
          </a:p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Culmination</a:t>
            </a:r>
            <a:endParaRPr lang="en-US" sz="3800" dirty="0"/>
          </a:p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Chronicle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49808" y="3767328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4E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documented account of participation, progress, and possibility from the 2024 Learning Forward programme.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9808" y="4983480"/>
            <a:ext cx="2331720" cy="256032"/>
          </a:xfrm>
          <a:prstGeom prst="roundRect">
            <a:avLst>
              <a:gd name="adj" fmla="val 42857"/>
            </a:avLst>
          </a:prstGeom>
          <a:solidFill>
            <a:srgbClr val="E6C153"/>
          </a:solidFill>
          <a:ln w="10160">
            <a:solidFill>
              <a:srgbClr val="E6C1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499262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23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REPORT  ·  JAN–AUG 2024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49808" y="5989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9C1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by the Impact &amp; Learning Office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E8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THE STORY SO FAR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12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2024 Learning Forward programme concludes with strong evidence of reach, relevance, and readiness for the next chapter.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571500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0160">
            <a:solidFill>
              <a:srgbClr val="D9E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148840"/>
            <a:ext cx="384048" cy="384048"/>
          </a:xfrm>
          <a:prstGeom prst="ellipse">
            <a:avLst/>
          </a:prstGeom>
          <a:solidFill>
            <a:srgbClr val="EAF5F0"/>
          </a:solidFill>
          <a:ln w="12700">
            <a:solidFill>
              <a:srgbClr val="EAF5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17627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3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21579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2E8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PROGRAMME OUTCOME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i="1" dirty="0">
                <a:solidFill>
                  <a:srgbClr val="12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programme did more than deliver training. It created a practical, shared language for change.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68680" y="3675888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six cohorts, the programme supported 171 learners through a blended learning journey combining facilitated sessions, peer exchange, and workplace application.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" y="4096512"/>
            <a:ext cx="1188720" cy="256032"/>
          </a:xfrm>
          <a:prstGeom prst="roundRect">
            <a:avLst>
              <a:gd name="adj" fmla="val 42857"/>
            </a:avLst>
          </a:prstGeom>
          <a:solidFill>
            <a:srgbClr val="EAF5F0"/>
          </a:solidFill>
          <a:ln w="10160">
            <a:solidFill>
              <a:srgbClr val="EAF5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10565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8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EXCEEDED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176272" y="4096512"/>
            <a:ext cx="1554480" cy="256032"/>
          </a:xfrm>
          <a:prstGeom prst="roundRect">
            <a:avLst>
              <a:gd name="adj" fmla="val 42857"/>
            </a:avLst>
          </a:prstGeom>
          <a:solidFill>
            <a:srgbClr val="F4F7F6"/>
          </a:solidFill>
          <a:ln w="10160">
            <a:solidFill>
              <a:srgbClr val="F4F7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76272" y="410565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CLOSE-OUT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83680" y="1874520"/>
            <a:ext cx="1508760" cy="1097280"/>
          </a:xfrm>
          <a:prstGeom prst="roundRect">
            <a:avLst>
              <a:gd name="adj" fmla="val 10000"/>
            </a:avLst>
          </a:prstGeom>
          <a:solidFill>
            <a:srgbClr val="FDF7E7"/>
          </a:solidFill>
          <a:ln w="10160">
            <a:solidFill>
              <a:srgbClr val="D9E3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48272" y="2029968"/>
            <a:ext cx="1179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2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171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6748272" y="2459736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learners reached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229600" y="1874520"/>
            <a:ext cx="1508760" cy="1097280"/>
          </a:xfrm>
          <a:prstGeom prst="roundRect">
            <a:avLst>
              <a:gd name="adj" fmla="val 10000"/>
            </a:avLst>
          </a:prstGeom>
          <a:solidFill>
            <a:srgbClr val="EAF5F0"/>
          </a:solidFill>
          <a:ln w="10160">
            <a:solidFill>
              <a:srgbClr val="D9E3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94192" y="2029968"/>
            <a:ext cx="1179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2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94%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8394192" y="2459736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completion rate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875520" y="1874520"/>
            <a:ext cx="1508760" cy="1097280"/>
          </a:xfrm>
          <a:prstGeom prst="roundRect">
            <a:avLst>
              <a:gd name="adj" fmla="val 10000"/>
            </a:avLst>
          </a:prstGeom>
          <a:solidFill>
            <a:srgbClr val="EAF2F4"/>
          </a:solidFill>
          <a:ln w="10160">
            <a:solidFill>
              <a:srgbClr val="D9E3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40112" y="2029968"/>
            <a:ext cx="1179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2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91%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10040112" y="2459736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satisfaction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583680" y="3246120"/>
            <a:ext cx="1508760" cy="1572768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9E3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84848" y="3429000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6C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84848" y="3721608"/>
            <a:ext cx="1106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84848" y="4069080"/>
            <a:ext cx="11064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planned cohort was reached, with expanded participation through targeted outreach.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29600" y="3246120"/>
            <a:ext cx="1508760" cy="1572768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9E3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30768" y="3429000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6C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430768" y="3721608"/>
            <a:ext cx="1106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Relevance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430768" y="4069080"/>
            <a:ext cx="11064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Learners linked the content to daily work and reported immediate practical value.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875520" y="3246120"/>
            <a:ext cx="1508760" cy="1572768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9E3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76688" y="3429000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6C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076688" y="3721608"/>
            <a:ext cx="1106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Readiness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076688" y="4069080"/>
            <a:ext cx="11064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identified clear opportunities to sustain peer learning.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2929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E8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THE STORY SO FAR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12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Programme at a glance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view of the scale, investment, and delivery footprint behind the close-out story.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965960"/>
            <a:ext cx="32461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D9E3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121408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2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58952" y="2551176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cohorts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51960" y="1965960"/>
            <a:ext cx="3246120" cy="1024128"/>
          </a:xfrm>
          <a:prstGeom prst="roundRect">
            <a:avLst>
              <a:gd name="adj" fmla="val 10714"/>
            </a:avLst>
          </a:prstGeom>
          <a:solidFill>
            <a:srgbClr val="FDF7E7"/>
          </a:solidFill>
          <a:ln w="10160">
            <a:solidFill>
              <a:srgbClr val="D9E3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16552" y="2121408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2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171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416552" y="2551176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learners reached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909560" y="1965960"/>
            <a:ext cx="32461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D9E3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74152" y="2121408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2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8074152" y="2551176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 organisations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3383280"/>
            <a:ext cx="3246120" cy="1024128"/>
          </a:xfrm>
          <a:prstGeom prst="roundRect">
            <a:avLst>
              <a:gd name="adj" fmla="val 10714"/>
            </a:avLst>
          </a:prstGeom>
          <a:solidFill>
            <a:srgbClr val="FDF7E7"/>
          </a:solidFill>
          <a:ln w="10160">
            <a:solidFill>
              <a:srgbClr val="D9E3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3538728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2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758952" y="3968496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facilitators &amp; speakers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51960" y="3383280"/>
            <a:ext cx="32461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D9E3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16552" y="3538728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2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4416552" y="3968496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attendance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909560" y="3383280"/>
            <a:ext cx="3246120" cy="1024128"/>
          </a:xfrm>
          <a:prstGeom prst="roundRect">
            <a:avLst>
              <a:gd name="adj" fmla="val 10714"/>
            </a:avLst>
          </a:prstGeom>
          <a:solidFill>
            <a:srgbClr val="FDF7E7"/>
          </a:solidFill>
          <a:ln w="10160">
            <a:solidFill>
              <a:srgbClr val="D9E3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74152" y="3538728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2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R1.24m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8074152" y="3968496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expenditure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5029200"/>
            <a:ext cx="10561320" cy="713232"/>
          </a:xfrm>
          <a:prstGeom prst="roundRect">
            <a:avLst>
              <a:gd name="adj" fmla="val 12821"/>
            </a:avLst>
          </a:prstGeom>
          <a:solidFill>
            <a:srgbClr val="123F46"/>
          </a:solidFill>
          <a:ln w="10160">
            <a:solidFill>
              <a:srgbClr val="123F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2120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1D5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blended learning journey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74720" y="521208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Facilitated sessions  →  peer exchange  →  workplace application  →  reflection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2929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E8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WHO SHOWED UP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12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Attendance statistics &amp; registers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Participation remained consistent throughout the programme, with an overall attendance rate of 95% against a target of 90%.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3657600" cy="4096512"/>
          </a:xfrm>
          <a:prstGeom prst="roundRect">
            <a:avLst>
              <a:gd name="adj" fmla="val 3000"/>
            </a:avLst>
          </a:prstGeom>
          <a:solidFill>
            <a:srgbClr val="123F46"/>
          </a:solidFill>
          <a:ln w="10160">
            <a:solidFill>
              <a:srgbClr val="123F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48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1D5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ATTENDANCE OVERVIEW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" y="249631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dirty="0">
                <a:solidFill>
                  <a:srgbClr val="F1D5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743200" y="28529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B7CC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 attendance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" y="34290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Cohort 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29000" y="34290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3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93%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68680" y="3685032"/>
            <a:ext cx="2971800" cy="109728"/>
          </a:xfrm>
          <a:prstGeom prst="roundRect">
            <a:avLst>
              <a:gd name="adj" fmla="val 41667"/>
            </a:avLst>
          </a:prstGeom>
          <a:solidFill>
            <a:srgbClr val="E7EEEC"/>
          </a:solidFill>
          <a:ln w="12700">
            <a:solidFill>
              <a:srgbClr val="E7EE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3685032"/>
            <a:ext cx="2763774" cy="109728"/>
          </a:xfrm>
          <a:prstGeom prst="roundRect">
            <a:avLst>
              <a:gd name="adj" fmla="val 41667"/>
            </a:avLst>
          </a:prstGeom>
          <a:solidFill>
            <a:srgbClr val="E6C153"/>
          </a:solidFill>
          <a:ln w="12700">
            <a:solidFill>
              <a:srgbClr val="E6C1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7673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Cohort B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29000" y="37673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3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97%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68680" y="4023360"/>
            <a:ext cx="2971800" cy="109728"/>
          </a:xfrm>
          <a:prstGeom prst="roundRect">
            <a:avLst>
              <a:gd name="adj" fmla="val 41667"/>
            </a:avLst>
          </a:prstGeom>
          <a:solidFill>
            <a:srgbClr val="E7EEEC"/>
          </a:solidFill>
          <a:ln w="12700">
            <a:solidFill>
              <a:srgbClr val="E7EE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4023360"/>
            <a:ext cx="2882646" cy="109728"/>
          </a:xfrm>
          <a:prstGeom prst="roundRect">
            <a:avLst>
              <a:gd name="adj" fmla="val 41667"/>
            </a:avLst>
          </a:prstGeom>
          <a:solidFill>
            <a:srgbClr val="E6C153"/>
          </a:solidFill>
          <a:ln w="12700">
            <a:solidFill>
              <a:srgbClr val="E6C1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10565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Cohort C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410565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3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68680" y="4361688"/>
            <a:ext cx="2971800" cy="109728"/>
          </a:xfrm>
          <a:prstGeom prst="roundRect">
            <a:avLst>
              <a:gd name="adj" fmla="val 41667"/>
            </a:avLst>
          </a:prstGeom>
          <a:solidFill>
            <a:srgbClr val="E7EEEC"/>
          </a:solidFill>
          <a:ln w="12700">
            <a:solidFill>
              <a:srgbClr val="E7EE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4361688"/>
            <a:ext cx="2674620" cy="109728"/>
          </a:xfrm>
          <a:prstGeom prst="roundRect">
            <a:avLst>
              <a:gd name="adj" fmla="val 41667"/>
            </a:avLst>
          </a:prstGeom>
          <a:solidFill>
            <a:srgbClr val="E6C153"/>
          </a:solidFill>
          <a:ln w="12700">
            <a:solidFill>
              <a:srgbClr val="E6C1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44398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Cohort 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29000" y="444398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3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68680" y="4700016"/>
            <a:ext cx="2971800" cy="109728"/>
          </a:xfrm>
          <a:prstGeom prst="roundRect">
            <a:avLst>
              <a:gd name="adj" fmla="val 41667"/>
            </a:avLst>
          </a:prstGeom>
          <a:solidFill>
            <a:srgbClr val="E7EEEC"/>
          </a:solidFill>
          <a:ln w="12700">
            <a:solidFill>
              <a:srgbClr val="E7EE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4700016"/>
            <a:ext cx="2882646" cy="109728"/>
          </a:xfrm>
          <a:prstGeom prst="roundRect">
            <a:avLst>
              <a:gd name="adj" fmla="val 41667"/>
            </a:avLst>
          </a:prstGeom>
          <a:solidFill>
            <a:srgbClr val="E6C153"/>
          </a:solidFill>
          <a:ln w="12700">
            <a:solidFill>
              <a:srgbClr val="E6C1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7823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Cohort 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29000" y="47823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3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96%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68680" y="5038344"/>
            <a:ext cx="2971800" cy="109728"/>
          </a:xfrm>
          <a:prstGeom prst="roundRect">
            <a:avLst>
              <a:gd name="adj" fmla="val 41667"/>
            </a:avLst>
          </a:prstGeom>
          <a:solidFill>
            <a:srgbClr val="E7EEEC"/>
          </a:solidFill>
          <a:ln w="12700">
            <a:solidFill>
              <a:srgbClr val="E7EE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" y="5038344"/>
            <a:ext cx="2852928" cy="109728"/>
          </a:xfrm>
          <a:prstGeom prst="roundRect">
            <a:avLst>
              <a:gd name="adj" fmla="val 41667"/>
            </a:avLst>
          </a:prstGeom>
          <a:solidFill>
            <a:srgbClr val="E6C153"/>
          </a:solidFill>
          <a:ln w="12700">
            <a:solidFill>
              <a:srgbClr val="E6C15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51206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Cohort F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29000" y="51206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3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96%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68680" y="5376672"/>
            <a:ext cx="2971800" cy="109728"/>
          </a:xfrm>
          <a:prstGeom prst="roundRect">
            <a:avLst>
              <a:gd name="adj" fmla="val 41667"/>
            </a:avLst>
          </a:prstGeom>
          <a:solidFill>
            <a:srgbClr val="E7EEEC"/>
          </a:solidFill>
          <a:ln w="12700">
            <a:solidFill>
              <a:srgbClr val="E7EE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8680" y="5376672"/>
            <a:ext cx="2852928" cy="109728"/>
          </a:xfrm>
          <a:prstGeom prst="roundRect">
            <a:avLst>
              <a:gd name="adj" fmla="val 41667"/>
            </a:avLst>
          </a:prstGeom>
          <a:solidFill>
            <a:srgbClr val="E6C153"/>
          </a:solidFill>
          <a:ln w="12700">
            <a:solidFill>
              <a:srgbClr val="E6C1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55595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B7CC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cohorts met or exceeded the programme attendance threshold.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26280" y="1874520"/>
            <a:ext cx="6629400" cy="4096512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0160">
            <a:solidFill>
              <a:srgbClr val="D9E3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1488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2E8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SIGNED ATTENDANCE REGISTER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00600" y="240487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Session-level verification record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2788920"/>
          <a:ext cx="6035040" cy="2697480"/>
        </p:xfrm>
        <a:graphic>
          <a:graphicData uri="http://schemas.openxmlformats.org/drawingml/2006/table">
            <a:tbl>
              <a:tblPr/>
              <a:tblGrid>
                <a:gridCol w="1325880"/>
                <a:gridCol w="1417320"/>
                <a:gridCol w="731520"/>
                <a:gridCol w="731520"/>
                <a:gridCol w="10972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2929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COHORT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2929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SESSION DATE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2929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PLANNED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2929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PRESENT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2929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4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Cohort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4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 Mar 2024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4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4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4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Verified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4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Cohort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4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 Apr 2024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4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4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4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Verified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4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Cohort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4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 May 2024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4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4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4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Verified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4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Cohort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4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 Jun 2024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4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4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29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4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Verified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4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Cohort 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4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 Jul 2024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4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4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4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Verified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4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Cohort F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4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 Aug 2024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4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4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4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Verified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Text 35"/>
          <p:cNvSpPr/>
          <p:nvPr/>
        </p:nvSpPr>
        <p:spPr>
          <a:xfrm>
            <a:off x="4800600" y="5623560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signed registers are filed in the programme evidence repository and available for audit review.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2929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E8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VOICES FROM THE PROGRAMME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12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Stakeholder participation &amp; learner feedback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signal from the close-out is not only who participated, but how participants describe the value of the experience.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480060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0160">
            <a:solidFill>
              <a:srgbClr val="D9E3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488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2E8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PARTICIPATION SNAPSHOT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68680" y="2606040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F4F7F6"/>
          </a:solidFill>
          <a:ln w="10160">
            <a:solidFill>
              <a:srgbClr val="F4F7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4984" y="27523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2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14984" y="31363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learners enrolled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017520" y="2606040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F4F7F6"/>
          </a:solidFill>
          <a:ln w="10160">
            <a:solidFill>
              <a:srgbClr val="F4F7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63824" y="27523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2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163824" y="31363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 organisations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68680" y="3840480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F4F7F6"/>
          </a:solidFill>
          <a:ln w="10160">
            <a:solidFill>
              <a:srgbClr val="F4F7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4984" y="39867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2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14984" y="43708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facilitators &amp; speakers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17520" y="3840480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F4F7F6"/>
          </a:solidFill>
          <a:ln w="10160">
            <a:solidFill>
              <a:srgbClr val="F4F7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63824" y="39867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2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163824" y="43708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cohorts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69280" y="1874520"/>
            <a:ext cx="548640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0160">
            <a:solidFill>
              <a:srgbClr val="D9E3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21488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2E8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LEARNER FEEDBACK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012680" y="21488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2E8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= 143 responses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43600" y="26517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relevance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195560" y="26517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3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43600" y="2907792"/>
            <a:ext cx="4663440" cy="109728"/>
          </a:xfrm>
          <a:prstGeom prst="roundRect">
            <a:avLst>
              <a:gd name="adj" fmla="val 41667"/>
            </a:avLst>
          </a:prstGeom>
          <a:solidFill>
            <a:srgbClr val="E7EEEC"/>
          </a:solidFill>
          <a:ln w="12700">
            <a:solidFill>
              <a:srgbClr val="E7EE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2907792"/>
            <a:ext cx="4290365" cy="109728"/>
          </a:xfrm>
          <a:prstGeom prst="roundRect">
            <a:avLst>
              <a:gd name="adj" fmla="val 41667"/>
            </a:avLst>
          </a:prstGeom>
          <a:solidFill>
            <a:srgbClr val="2E8069"/>
          </a:solidFill>
          <a:ln w="12700">
            <a:solidFill>
              <a:srgbClr val="2E80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3218688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Facilitator quality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195560" y="32186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3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43600" y="3474720"/>
            <a:ext cx="4663440" cy="109728"/>
          </a:xfrm>
          <a:prstGeom prst="roundRect">
            <a:avLst>
              <a:gd name="adj" fmla="val 41667"/>
            </a:avLst>
          </a:prstGeom>
          <a:solidFill>
            <a:srgbClr val="E7EEEC"/>
          </a:solidFill>
          <a:ln w="12700">
            <a:solidFill>
              <a:srgbClr val="E7EE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3474720"/>
            <a:ext cx="4476902" cy="109728"/>
          </a:xfrm>
          <a:prstGeom prst="roundRect">
            <a:avLst>
              <a:gd name="adj" fmla="val 41667"/>
            </a:avLst>
          </a:prstGeom>
          <a:solidFill>
            <a:srgbClr val="2E8069"/>
          </a:solidFill>
          <a:ln w="12700">
            <a:solidFill>
              <a:srgbClr val="2E80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3785616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application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195560" y="37856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3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89%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43600" y="4041648"/>
            <a:ext cx="4663440" cy="109728"/>
          </a:xfrm>
          <a:prstGeom prst="roundRect">
            <a:avLst>
              <a:gd name="adj" fmla="val 41667"/>
            </a:avLst>
          </a:prstGeom>
          <a:solidFill>
            <a:srgbClr val="E7EEEC"/>
          </a:solidFill>
          <a:ln w="12700">
            <a:solidFill>
              <a:srgbClr val="E7EE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0" y="4041648"/>
            <a:ext cx="4150462" cy="109728"/>
          </a:xfrm>
          <a:prstGeom prst="roundRect">
            <a:avLst>
              <a:gd name="adj" fmla="val 41667"/>
            </a:avLst>
          </a:prstGeom>
          <a:solidFill>
            <a:srgbClr val="2E8069"/>
          </a:solidFill>
          <a:ln w="12700">
            <a:solidFill>
              <a:srgbClr val="2E80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4352544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Materials &amp; support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195560" y="435254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3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87%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943600" y="4608576"/>
            <a:ext cx="4663440" cy="109728"/>
          </a:xfrm>
          <a:prstGeom prst="roundRect">
            <a:avLst>
              <a:gd name="adj" fmla="val 41667"/>
            </a:avLst>
          </a:prstGeom>
          <a:solidFill>
            <a:srgbClr val="E7EEEC"/>
          </a:solidFill>
          <a:ln w="12700">
            <a:solidFill>
              <a:srgbClr val="E7EE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4608576"/>
            <a:ext cx="4057193" cy="109728"/>
          </a:xfrm>
          <a:prstGeom prst="roundRect">
            <a:avLst>
              <a:gd name="adj" fmla="val 41667"/>
            </a:avLst>
          </a:prstGeom>
          <a:solidFill>
            <a:srgbClr val="2E8069"/>
          </a:solidFill>
          <a:ln w="12700">
            <a:solidFill>
              <a:srgbClr val="2E80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0" y="52578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Respondents rated their experience on a five-point scale. Percentages reflect positive and very positive responses.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2929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E8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VOICES FROM THE PROGRAMME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12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participants carried forward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Learner and partner reflections point to practical value, confidence, and a stronger shared language for change.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3246120" cy="3154680"/>
          </a:xfrm>
          <a:prstGeom prst="roundRect">
            <a:avLst>
              <a:gd name="adj" fmla="val 3478"/>
            </a:avLst>
          </a:prstGeom>
          <a:solidFill>
            <a:srgbClr val="EAF2F0"/>
          </a:solidFill>
          <a:ln w="10160">
            <a:solidFill>
              <a:srgbClr val="EAF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762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dirty="0">
                <a:solidFill>
                  <a:srgbClr val="E6C1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886968" y="274320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12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left each session with something I could use immediately. The peer examples made the theory feel real.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86968" y="446227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E8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LEARNER, COHORT 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251960" y="1920240"/>
            <a:ext cx="3246120" cy="3154680"/>
          </a:xfrm>
          <a:prstGeom prst="roundRect">
            <a:avLst>
              <a:gd name="adj" fmla="val 3478"/>
            </a:avLst>
          </a:prstGeom>
          <a:solidFill>
            <a:srgbClr val="123F46"/>
          </a:solidFill>
          <a:ln w="10160">
            <a:solidFill>
              <a:srgbClr val="123F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21762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dirty="0">
                <a:solidFill>
                  <a:srgbClr val="E6C1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500" dirty="0"/>
          </a:p>
        </p:txBody>
      </p:sp>
      <p:sp>
        <p:nvSpPr>
          <p:cNvPr id="11" name="Text 9"/>
          <p:cNvSpPr/>
          <p:nvPr/>
        </p:nvSpPr>
        <p:spPr>
          <a:xfrm>
            <a:off x="4544568" y="274320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programme gave our team a shared framework and the confidence to start conversations we had been avoiding.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44568" y="446227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1D5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 ORGANISATION REPRESENTATIVE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909560" y="1920240"/>
            <a:ext cx="3246120" cy="3154680"/>
          </a:xfrm>
          <a:prstGeom prst="roundRect">
            <a:avLst>
              <a:gd name="adj" fmla="val 3478"/>
            </a:avLst>
          </a:prstGeom>
          <a:solidFill>
            <a:srgbClr val="EAF2F0"/>
          </a:solidFill>
          <a:ln w="10160">
            <a:solidFill>
              <a:srgbClr val="EAF2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21762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dirty="0">
                <a:solidFill>
                  <a:srgbClr val="E6C1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500" dirty="0"/>
          </a:p>
        </p:txBody>
      </p:sp>
      <p:sp>
        <p:nvSpPr>
          <p:cNvPr id="15" name="Text 13"/>
          <p:cNvSpPr/>
          <p:nvPr/>
        </p:nvSpPr>
        <p:spPr>
          <a:xfrm>
            <a:off x="8202168" y="274320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12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most valuable part was seeing how others solved similar problems. It made progress feel possible.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02168" y="446227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E8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LEARNER, COHORT B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2929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E8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THE PROGRAMME IN FOCUS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12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 coverage &amp; evidence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curated record of the people, places, and moments that shaped the programme.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6583680" cy="3977640"/>
          </a:xfrm>
          <a:prstGeom prst="roundRect">
            <a:avLst>
              <a:gd name="adj" fmla="val 2759"/>
            </a:avLst>
          </a:prstGeom>
          <a:solidFill>
            <a:srgbClr val="123F46"/>
          </a:solidFill>
          <a:ln w="10160">
            <a:solidFill>
              <a:srgbClr val="123F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19456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1D5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STORIES WORTH CARRYING FORWARD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96112" y="267004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programme generated a rich collection of visual and written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96112" y="3401568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7D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session photographs to learner reflections and partner stories, the evidence captures more than delivery — it captures movement.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" y="461772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F1D5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96112" y="50109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B7CC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photographic evidence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816352" y="461772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F1D5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816352" y="50109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B7CC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interviews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36592" y="461772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F1D5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36592" y="50109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B7CC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press &amp; web mentions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498080" y="1874520"/>
            <a:ext cx="3657600" cy="3977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D9E3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21945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2E8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COVERAGE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772400" y="2724912"/>
            <a:ext cx="320040" cy="320040"/>
          </a:xfrm>
          <a:prstGeom prst="ellipse">
            <a:avLst/>
          </a:prstGeom>
          <a:solidFill>
            <a:srgbClr val="EAF5F0"/>
          </a:solidFill>
          <a:ln w="12700">
            <a:solidFill>
              <a:srgbClr val="EAF5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276148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E8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↗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75320" y="27249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23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Learning Review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75320" y="296265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article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104120" y="279806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292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Aug 2024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772400" y="3566160"/>
            <a:ext cx="320040" cy="320040"/>
          </a:xfrm>
          <a:prstGeom prst="ellipse">
            <a:avLst/>
          </a:prstGeom>
          <a:solidFill>
            <a:srgbClr val="EAF5F0"/>
          </a:solidFill>
          <a:ln w="12700">
            <a:solidFill>
              <a:srgbClr val="EAF5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0" y="360273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E8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↗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75320" y="35661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23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Community Voice FM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75320" y="38039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Radio interview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104120" y="363931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292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Aug 2024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772400" y="4407408"/>
            <a:ext cx="320040" cy="320040"/>
          </a:xfrm>
          <a:prstGeom prst="ellipse">
            <a:avLst/>
          </a:prstGeom>
          <a:solidFill>
            <a:srgbClr val="EAF5F0"/>
          </a:solidFill>
          <a:ln w="12700">
            <a:solidFill>
              <a:srgbClr val="EAF5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0" y="444398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E8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↗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75320" y="44074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23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 Matters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75320" y="464515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Programme spotlight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104120" y="448056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292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 Jul 2024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772400" y="5257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Photographs, video interviews, and published coverage are filed in the programme evidence repository.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2929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E8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STEWARDSHIP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12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reconciliation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Programme expenditure was managed within approved parameters, with clear alignment between investment and delivery.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3840480" cy="4114800"/>
          </a:xfrm>
          <a:prstGeom prst="roundRect">
            <a:avLst>
              <a:gd name="adj" fmla="val 2857"/>
            </a:avLst>
          </a:prstGeom>
          <a:solidFill>
            <a:srgbClr val="123F46"/>
          </a:solidFill>
          <a:ln w="10160">
            <a:solidFill>
              <a:srgbClr val="123F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1762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1D5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POSITION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96112" y="26517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7CC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approved budget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6112" y="29077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R1,250,000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896112" y="3493008"/>
            <a:ext cx="3200400" cy="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37673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7CC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expenditure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96112" y="4023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F1D5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R1,237,450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896112" y="4617720"/>
            <a:ext cx="1234440" cy="256032"/>
          </a:xfrm>
          <a:prstGeom prst="roundRect">
            <a:avLst>
              <a:gd name="adj" fmla="val 42857"/>
            </a:avLst>
          </a:prstGeom>
          <a:solidFill>
            <a:srgbClr val="2E8069"/>
          </a:solidFill>
          <a:ln w="10160">
            <a:solidFill>
              <a:srgbClr val="2E80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462686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99% UTILISED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96112" y="51663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B7CC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Unspent balance: R12,550, returned in line with funding conditions.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54880" y="1874520"/>
            <a:ext cx="64008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D9E3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21762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2E8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RECONCILED EXPENDITURE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29200" y="269748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delivery &amp; facilitation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555480" y="26974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3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R534,800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0" y="2944368"/>
            <a:ext cx="5715000" cy="91440"/>
          </a:xfrm>
          <a:prstGeom prst="roundRect">
            <a:avLst>
              <a:gd name="adj" fmla="val 50000"/>
            </a:avLst>
          </a:prstGeom>
          <a:solidFill>
            <a:srgbClr val="E7EEEC"/>
          </a:solidFill>
          <a:ln w="12700">
            <a:solidFill>
              <a:srgbClr val="E7EE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2944368"/>
            <a:ext cx="5461000" cy="91440"/>
          </a:xfrm>
          <a:prstGeom prst="roundRect">
            <a:avLst>
              <a:gd name="adj" fmla="val 50000"/>
            </a:avLst>
          </a:prstGeom>
          <a:solidFill>
            <a:srgbClr val="2E8069"/>
          </a:solidFill>
          <a:ln w="12700">
            <a:solidFill>
              <a:srgbClr val="2E80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322783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Learner support &amp; materials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555480" y="322783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3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R286,450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0" y="3474720"/>
            <a:ext cx="5715000" cy="91440"/>
          </a:xfrm>
          <a:prstGeom prst="roundRect">
            <a:avLst>
              <a:gd name="adj" fmla="val 50000"/>
            </a:avLst>
          </a:prstGeom>
          <a:solidFill>
            <a:srgbClr val="E7EEEC"/>
          </a:solidFill>
          <a:ln w="12700">
            <a:solidFill>
              <a:srgbClr val="E7EE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0" y="3474720"/>
            <a:ext cx="2921000" cy="91440"/>
          </a:xfrm>
          <a:prstGeom prst="roundRect">
            <a:avLst>
              <a:gd name="adj" fmla="val 50000"/>
            </a:avLst>
          </a:prstGeom>
          <a:solidFill>
            <a:srgbClr val="2E8069"/>
          </a:solidFill>
          <a:ln w="12700">
            <a:solidFill>
              <a:srgbClr val="2E80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375818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Monitoring, evaluation &amp; learning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555480" y="375818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3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R161,250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0" y="4005072"/>
            <a:ext cx="5715000" cy="91440"/>
          </a:xfrm>
          <a:prstGeom prst="roundRect">
            <a:avLst>
              <a:gd name="adj" fmla="val 50000"/>
            </a:avLst>
          </a:prstGeom>
          <a:solidFill>
            <a:srgbClr val="E7EEEC"/>
          </a:solidFill>
          <a:ln w="12700">
            <a:solidFill>
              <a:srgbClr val="E7EE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0" y="4005072"/>
            <a:ext cx="1651000" cy="91440"/>
          </a:xfrm>
          <a:prstGeom prst="roundRect">
            <a:avLst>
              <a:gd name="adj" fmla="val 50000"/>
            </a:avLst>
          </a:prstGeom>
          <a:solidFill>
            <a:srgbClr val="2E8069"/>
          </a:solidFill>
          <a:ln w="12700">
            <a:solidFill>
              <a:srgbClr val="2E80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28853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 &amp; access support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555480" y="428853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3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R148,500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0" y="4535424"/>
            <a:ext cx="5715000" cy="91440"/>
          </a:xfrm>
          <a:prstGeom prst="roundRect">
            <a:avLst>
              <a:gd name="adj" fmla="val 50000"/>
            </a:avLst>
          </a:prstGeom>
          <a:solidFill>
            <a:srgbClr val="E7EEEC"/>
          </a:solidFill>
          <a:ln w="12700">
            <a:solidFill>
              <a:srgbClr val="E7EE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0" y="4535424"/>
            <a:ext cx="1524000" cy="91440"/>
          </a:xfrm>
          <a:prstGeom prst="roundRect">
            <a:avLst>
              <a:gd name="adj" fmla="val 50000"/>
            </a:avLst>
          </a:prstGeom>
          <a:solidFill>
            <a:srgbClr val="2E8069"/>
          </a:solidFill>
          <a:ln w="12700">
            <a:solidFill>
              <a:srgbClr val="2E80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481888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Communications &amp; media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555480" y="48188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3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R106,450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29200" y="5065776"/>
            <a:ext cx="5715000" cy="91440"/>
          </a:xfrm>
          <a:prstGeom prst="roundRect">
            <a:avLst>
              <a:gd name="adj" fmla="val 50000"/>
            </a:avLst>
          </a:prstGeom>
          <a:solidFill>
            <a:srgbClr val="E7EEEC"/>
          </a:solidFill>
          <a:ln w="12700">
            <a:solidFill>
              <a:srgbClr val="E7EE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0" y="5065776"/>
            <a:ext cx="1143000" cy="91440"/>
          </a:xfrm>
          <a:prstGeom prst="roundRect">
            <a:avLst>
              <a:gd name="adj" fmla="val 50000"/>
            </a:avLst>
          </a:prstGeom>
          <a:solidFill>
            <a:srgbClr val="2E8069"/>
          </a:solidFill>
          <a:ln w="12700">
            <a:solidFill>
              <a:srgbClr val="2E80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546811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line items are supported by invoices, approvals, and payment records.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2929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E8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LOOKING AHEAD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12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Lessons learnt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17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close-out creates a practical bridge between what worked, what we would change, and what should happen next.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938528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123F46"/>
          </a:solidFill>
          <a:ln w="10160">
            <a:solidFill>
              <a:srgbClr val="123F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21945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6E9A96">
                    <a:alpha val="6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50392" y="2926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practice close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0392" y="33832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7D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learning happened when concepts were immediately connected to a participant's real work. Protect time for application and reflection.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51960" y="1938528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123F46"/>
          </a:solidFill>
          <a:ln w="10160">
            <a:solidFill>
              <a:srgbClr val="123F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21945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6E9A96">
                    <a:alpha val="6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07992" y="2926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for the whole system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07992" y="33832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7D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 participation improved relevance and reduced duplication. Bring organisational stakeholders into the design conversation earlier.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909560" y="1938528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123F46"/>
          </a:solidFill>
          <a:ln w="10160">
            <a:solidFill>
              <a:srgbClr val="123F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65592" y="21945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6E9A96">
                    <a:alpha val="6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165592" y="2926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peer learning visible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65592" y="33832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7D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Informal peer exchange became a defining strength. A simple structure for continued connection would extend the programme's value.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5029200"/>
            <a:ext cx="10561320" cy="749808"/>
          </a:xfrm>
          <a:prstGeom prst="roundRect">
            <a:avLst>
              <a:gd name="adj" fmla="val 12195"/>
            </a:avLst>
          </a:prstGeom>
          <a:solidFill>
            <a:srgbClr val="E6C153"/>
          </a:solidFill>
          <a:ln w="10160">
            <a:solidFill>
              <a:srgbClr val="E6C1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24865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123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286000" y="51663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2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 in the continuation, not just the conclusion.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2929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3F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05840" y="3749040"/>
            <a:ext cx="3931920" cy="3931920"/>
          </a:xfrm>
          <a:prstGeom prst="arc">
            <a:avLst/>
          </a:prstGeom>
          <a:noFill/>
          <a:ln w="13970">
            <a:solidFill>
              <a:srgbClr val="E6C153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-1143000"/>
            <a:ext cx="3840480" cy="3840480"/>
          </a:xfrm>
          <a:prstGeom prst="arc">
            <a:avLst/>
          </a:prstGeom>
          <a:noFill/>
          <a:ln w="13970">
            <a:solidFill>
              <a:srgbClr val="E6C153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9144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1D5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 NOTE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" y="157276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work continues.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04672" y="2578608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evidence from this programme points to a clear next step: keep the network connected, deepen workplace application, and make the learning visible beyond the funded period.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04672" y="3886200"/>
            <a:ext cx="2011680" cy="0"/>
          </a:xfrm>
          <a:prstGeom prst="line">
            <a:avLst/>
          </a:prstGeom>
          <a:noFill/>
          <a:ln w="25400">
            <a:solidFill>
              <a:srgbClr val="E6C1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4160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i="1" dirty="0">
                <a:solidFill>
                  <a:srgbClr val="F1D5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04672" y="58064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9C1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 &amp; Learning Office  ·  August 2024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10</Slides>
	<Notes>10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10</vt:i4></vt:variant>
		</vt:vector>
	</HeadingPairs>
	<TitlesOfParts>
		<vt:vector size="13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<vt:lpstr>Slide 10</vt:lpstr>
		</vt:vector>
	</TitlesOfParts>
	<Company>Impact & Learning Office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Culmination Chronicle</dc:title>
  <dc:subject>2024 Learning Forward programme close-out report</dc:subject>
  <dc:creator>Impact &amp; Learning Office</dc:creator>
  <cp:lastModifiedBy>Impact &amp; Learning Office</cp:lastModifiedBy>
  <cp:revision>1</cp:revision>
  <dcterms:created xsi:type="dcterms:W3CDTF">2026-08-24T06:30:09Z</dcterms:created>
  <dcterms:modified xsi:type="dcterms:W3CDTF">2026-08-24T06:30:09Z</dcterms:modified>
</cp:coreProperties>
</file>